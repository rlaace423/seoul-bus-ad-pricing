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Noto Sans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bold.fntdata"/><Relationship Id="rId21" Type="http://schemas.openxmlformats.org/officeDocument/2006/relationships/font" Target="fonts/NotoSans-regular.fntdata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7d1296ba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e77d1296ba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77d1296ba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ummy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"이 문제에 예측 가능한 신호가 있는가?"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Linear Regression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"선형 관계만으로 설명 가능한가?"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Random Forest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"비선형성이 존재하는가?"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XGBoost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"가장 잘 설명하는 모델은 무엇인가?"를 확인하는 과정입니다.</a:t>
            </a:r>
            <a:endParaRPr/>
          </a:p>
        </p:txBody>
      </p:sp>
      <p:sp>
        <p:nvSpPr>
          <p:cNvPr id="362" name="Google Shape;3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예를 들어, 유동인구가 많아도 상권이 없으면 별로 안 비쌈. 상권이 있으면서 중심성도 높으면 갑자기 비싸지는 경우 선형적인 관계로 설명이 어려움</a:t>
            </a:r>
            <a:endParaRPr/>
          </a:p>
        </p:txBody>
      </p:sp>
      <p:sp>
        <p:nvSpPr>
          <p:cNvPr id="404" name="Google Shape;4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77d1296ba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e77d1296ba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e77d1296ba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609600" y="8475133"/>
            <a:ext cx="28449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165600" y="8475133"/>
            <a:ext cx="3860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737600" y="8475133"/>
            <a:ext cx="28449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 sz="1900"/>
            </a:lvl1pPr>
            <a:lvl2pPr indent="0" lvl="1" marL="0" algn="r">
              <a:spcBef>
                <a:spcPts val="0"/>
              </a:spcBef>
              <a:buNone/>
              <a:defRPr sz="1900"/>
            </a:lvl2pPr>
            <a:lvl3pPr indent="0" lvl="2" marL="0" algn="r">
              <a:spcBef>
                <a:spcPts val="0"/>
              </a:spcBef>
              <a:buNone/>
              <a:defRPr sz="1900"/>
            </a:lvl3pPr>
            <a:lvl4pPr indent="0" lvl="3" marL="0" algn="r">
              <a:spcBef>
                <a:spcPts val="0"/>
              </a:spcBef>
              <a:buNone/>
              <a:defRPr sz="1900"/>
            </a:lvl4pPr>
            <a:lvl5pPr indent="0" lvl="4" marL="0" algn="r">
              <a:spcBef>
                <a:spcPts val="0"/>
              </a:spcBef>
              <a:buNone/>
              <a:defRPr sz="1900"/>
            </a:lvl5pPr>
            <a:lvl6pPr indent="0" lvl="5" marL="0" algn="r">
              <a:spcBef>
                <a:spcPts val="0"/>
              </a:spcBef>
              <a:buNone/>
              <a:defRPr sz="1900"/>
            </a:lvl6pPr>
            <a:lvl7pPr indent="0" lvl="6" marL="0" algn="r">
              <a:spcBef>
                <a:spcPts val="0"/>
              </a:spcBef>
              <a:buNone/>
              <a:defRPr sz="1900"/>
            </a:lvl7pPr>
            <a:lvl8pPr indent="0" lvl="7" marL="0" algn="r">
              <a:spcBef>
                <a:spcPts val="0"/>
              </a:spcBef>
              <a:buNone/>
              <a:defRPr sz="1900"/>
            </a:lvl8pPr>
            <a:lvl9pPr indent="0" lvl="8" marL="0" algn="r">
              <a:spcBef>
                <a:spcPts val="0"/>
              </a:spcBef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658368" y="53035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DATA-DRIVEN URBAN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80309" y="2749575"/>
            <a:ext cx="7889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4300"/>
              <a:buFont typeface="Noto Sans"/>
              <a:buNone/>
            </a:pPr>
            <a:r>
              <a:rPr b="1" i="0" lang="en-US" sz="15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Data-D</a:t>
            </a:r>
            <a:r>
              <a:rPr b="1" i="0" lang="en-US" sz="15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riven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Bus Stop Ad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Valuation</a:t>
            </a:r>
            <a:endParaRPr b="1" sz="1500">
              <a:solidFill>
                <a:srgbClr val="F7F8F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577948" y="1522925"/>
            <a:ext cx="7695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버스 정류장 </a:t>
            </a:r>
            <a:endParaRPr b="1" i="0" sz="3400" u="none" cap="none" strike="noStrike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광고가 평가 도구</a:t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658380" y="5198823"/>
            <a:ext cx="3200400" cy="12600"/>
          </a:xfrm>
          <a:prstGeom prst="rect">
            <a:avLst/>
          </a:prstGeom>
          <a:solidFill>
            <a:srgbClr val="5E6AD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658380" y="5363415"/>
            <a:ext cx="566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26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데이터기반도시설계  |  팀 프로젝트 중간발표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658380" y="5683455"/>
            <a:ext cx="566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8조</a:t>
            </a:r>
            <a:r>
              <a:rPr b="1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김길영 </a:t>
            </a:r>
            <a:r>
              <a:rPr b="1" lang="en-US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김상호 김예원 류혜경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문제의식: 광고가는 도시 입지 가치의 관측 지표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5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5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13232" y="16002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버스정류장 광고비는 위치에 따라 다르지만, </a:t>
            </a:r>
            <a:endParaRPr b="1" sz="2000">
              <a:solidFill>
                <a:srgbClr val="F7F8F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가격이 도시의 어떤 특성에 의해 결정되는지는 설명하기 어렵습니다.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49808" y="2514600"/>
            <a:ext cx="3246120" cy="2423160"/>
          </a:xfrm>
          <a:prstGeom prst="roundRect">
            <a:avLst>
              <a:gd fmla="val 4528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498848" y="2514600"/>
            <a:ext cx="3246120" cy="2423160"/>
          </a:xfrm>
          <a:prstGeom prst="roundRect">
            <a:avLst>
              <a:gd fmla="val 4528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247888" y="2514600"/>
            <a:ext cx="3246120" cy="2423160"/>
          </a:xfrm>
          <a:prstGeom prst="roundRect">
            <a:avLst>
              <a:gd fmla="val 4528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05840" y="2834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왜 어떤 정류장은 더 비쌀까?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05851" y="3310125"/>
            <a:ext cx="292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위치별 광고비 차이 존재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유동인구만으로 설명되지 않는 가격 격차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400"/>
              <a:buFont typeface="Noto Sans"/>
              <a:buNone/>
            </a:pPr>
            <a:r>
              <a:t/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754875" y="2834650"/>
            <a:ext cx="299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도시 구조가 입지 가치를 만든다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754875" y="3310124"/>
            <a:ext cx="26517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중심지 접근성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상권 밀도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토지 이용 특성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가격은 입지 가치의 결과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400"/>
              <a:buFont typeface="Noto Sans"/>
              <a:buNone/>
            </a:pPr>
            <a:r>
              <a:t/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8503925" y="2834650"/>
            <a:ext cx="299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도시 구조와 광고비의 관계 규명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503920" y="331012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설명 가능한 가격 모델 구축</a:t>
            </a:r>
            <a:endParaRPr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도시공학적 해석 제시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68096" y="5577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질문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682496" y="5513832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도시의 구조는 버스정류장 광고</a:t>
            </a:r>
            <a:r>
              <a:rPr b="1" lang="en-US" sz="1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비에 어떻게 반영되는가?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18634" y="2633350"/>
            <a:ext cx="322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SITUATION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752434" y="2633350"/>
            <a:ext cx="322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HYPOTHESIS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486234" y="2633350"/>
            <a:ext cx="322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GOAL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58368" y="3840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프로젝트 정의: 좌표 기반 광고가 예측·설명 도구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6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6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68680" y="1874520"/>
            <a:ext cx="1600200" cy="1828800"/>
          </a:xfrm>
          <a:prstGeom prst="roundRect">
            <a:avLst>
              <a:gd fmla="val 6857" name="adj"/>
            </a:avLst>
          </a:prstGeom>
          <a:solidFill>
            <a:srgbClr val="191A1B"/>
          </a:solidFill>
          <a:ln cap="flat" cmpd="sng" w="12700">
            <a:solidFill>
              <a:srgbClr val="2A2D3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033272" y="2148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입력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78408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 또는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임의 좌표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6"/>
          <p:cNvCxnSpPr/>
          <p:nvPr/>
        </p:nvCxnSpPr>
        <p:spPr>
          <a:xfrm>
            <a:off x="2468880" y="2788920"/>
            <a:ext cx="777240" cy="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6"/>
          <p:cNvSpPr/>
          <p:nvPr/>
        </p:nvSpPr>
        <p:spPr>
          <a:xfrm>
            <a:off x="3246120" y="1874520"/>
            <a:ext cx="1600200" cy="1828800"/>
          </a:xfrm>
          <a:prstGeom prst="roundRect">
            <a:avLst>
              <a:gd fmla="val 6857" name="adj"/>
            </a:avLst>
          </a:prstGeom>
          <a:solidFill>
            <a:srgbClr val="191A1B"/>
          </a:solidFill>
          <a:ln cap="flat" cmpd="sng" w="12700">
            <a:solidFill>
              <a:srgbClr val="2A2D3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3410712" y="2148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공간 결합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355848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교통·토지·상권·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도로망 데이터 결합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6"/>
          <p:cNvCxnSpPr/>
          <p:nvPr/>
        </p:nvCxnSpPr>
        <p:spPr>
          <a:xfrm>
            <a:off x="4846320" y="2788920"/>
            <a:ext cx="777240" cy="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6"/>
          <p:cNvSpPr/>
          <p:nvPr/>
        </p:nvSpPr>
        <p:spPr>
          <a:xfrm>
            <a:off x="5623560" y="1874520"/>
            <a:ext cx="1600200" cy="1828800"/>
          </a:xfrm>
          <a:prstGeom prst="roundRect">
            <a:avLst>
              <a:gd fmla="val 6857" name="adj"/>
            </a:avLst>
          </a:prstGeom>
          <a:solidFill>
            <a:srgbClr val="191A1B"/>
          </a:solidFill>
          <a:ln cap="flat" cmpd="sng" w="12700">
            <a:solidFill>
              <a:srgbClr val="2A2D3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788152" y="2148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피처 생성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733288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좌표에서 계산 가능한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도시 변수 세트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6"/>
          <p:cNvCxnSpPr/>
          <p:nvPr/>
        </p:nvCxnSpPr>
        <p:spPr>
          <a:xfrm>
            <a:off x="7223760" y="2788920"/>
            <a:ext cx="777240" cy="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6"/>
          <p:cNvSpPr/>
          <p:nvPr/>
        </p:nvSpPr>
        <p:spPr>
          <a:xfrm>
            <a:off x="8001000" y="1874520"/>
            <a:ext cx="1600200" cy="1828800"/>
          </a:xfrm>
          <a:prstGeom prst="roundRect">
            <a:avLst>
              <a:gd fmla="val 6857" name="adj"/>
            </a:avLst>
          </a:prstGeom>
          <a:solidFill>
            <a:srgbClr val="191A1B"/>
          </a:solidFill>
          <a:ln cap="flat" cmpd="sng" w="12700">
            <a:solidFill>
              <a:srgbClr val="2A2D3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165592" y="2148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회귀 모델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110728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XGBoost 중심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모델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9601200" y="2788920"/>
            <a:ext cx="777240" cy="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6"/>
          <p:cNvSpPr/>
          <p:nvPr/>
        </p:nvSpPr>
        <p:spPr>
          <a:xfrm>
            <a:off x="10195560" y="1874520"/>
            <a:ext cx="1600200" cy="1828800"/>
          </a:xfrm>
          <a:prstGeom prst="roundRect">
            <a:avLst>
              <a:gd fmla="val 6857" name="adj"/>
            </a:avLst>
          </a:prstGeom>
          <a:solidFill>
            <a:srgbClr val="191A1B"/>
          </a:solidFill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360152" y="2148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출력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305288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예상 광고가와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주요 결정요인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14400" y="4663448"/>
            <a:ext cx="97842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과거 광고 이력이 없어도 위치 특성만으로 </a:t>
            </a:r>
            <a:endParaRPr b="1" sz="2000">
              <a:solidFill>
                <a:srgbClr val="F7F8F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신규 버스정류장의 광고 가격을 예측할 수 있도록 설계</a:t>
            </a:r>
            <a:endParaRPr b="1" sz="2000">
              <a:solidFill>
                <a:srgbClr val="F7F8F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58368" y="3840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전체 분석 프레임: 문제 정의에서 최종 검증까지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7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005778" y="19857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929578" y="22570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185610" y="24764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Y 데이터 정리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185610" y="28970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정류장별 월 광고 단가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709098" y="19857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632897" y="22570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888930" y="24764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좌표 매칭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888930" y="28970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 좌표와 가격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412418" y="19857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336218" y="22570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592250" y="24764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도시 피처 생성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592250" y="28970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교통·토지·상권·도로망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005778" y="40431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29578" y="43144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185610" y="45338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모델 비교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85610" y="49544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Linear → RF → XGBoost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09098" y="40431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632897" y="43144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888930" y="45338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성능 검증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888930" y="49544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K-Fold + 자치구 기반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412418" y="4043136"/>
            <a:ext cx="365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336218" y="4314408"/>
            <a:ext cx="2926200" cy="1234500"/>
          </a:xfrm>
          <a:prstGeom prst="roundRect">
            <a:avLst>
              <a:gd fmla="val 8889" name="adj"/>
            </a:avLst>
          </a:prstGeom>
          <a:solidFill>
            <a:srgbClr val="0F1011"/>
          </a:solidFill>
          <a:ln cap="flat" cmpd="sng" w="12700">
            <a:solidFill>
              <a:srgbClr val="282B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592250" y="4533864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설명·시각화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592250" y="4954488"/>
            <a:ext cx="214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SHAP + 지도 기반 표현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58368" y="3840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데이터 소스 설계: Y와 X를 정류장 좌표로 결합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8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8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77240" y="1600200"/>
            <a:ext cx="3017520" cy="4343400"/>
          </a:xfrm>
          <a:prstGeom prst="roundRect">
            <a:avLst>
              <a:gd fmla="val 3636" name="adj"/>
            </a:avLst>
          </a:prstGeom>
          <a:solidFill>
            <a:srgbClr val="191A1B"/>
          </a:solidFill>
          <a:ln cap="flat" cmpd="sng" w="12700">
            <a:solidFill>
              <a:srgbClr val="7170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024128" y="18470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정답값 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024128" y="24231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700"/>
              <a:buFont typeface="Noto Sans"/>
              <a:buNone/>
            </a:pPr>
            <a:r>
              <a:rPr b="0" i="0" lang="en-US" sz="17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버스정류장 월 광고 </a:t>
            </a:r>
            <a:r>
              <a:rPr lang="en-US" sz="17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단가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24128" y="38404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덕플레이스 등 광고가 자료를 기준으로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정류장별 가격 차이를 학습 목표로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343400" y="1600200"/>
            <a:ext cx="7040880" cy="4343400"/>
          </a:xfrm>
          <a:prstGeom prst="roundRect">
            <a:avLst>
              <a:gd fmla="val 2526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617720" y="1865376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900"/>
              <a:buFont typeface="Noto Sans"/>
              <a:buNone/>
            </a:pPr>
            <a:r>
              <a:rPr b="1" i="0" lang="en-US" sz="19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입력값 X: 좌표에서 산출 가능한 공공·공간 데이터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645152" y="2514600"/>
            <a:ext cx="685800" cy="256032"/>
          </a:xfrm>
          <a:prstGeom prst="roundRect">
            <a:avLst>
              <a:gd fmla="val 21429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718304" y="2560320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교통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0" y="253288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승하차 인원 · 경유 노선 수 · 지하철 접근성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645152" y="3081528"/>
            <a:ext cx="685800" cy="256032"/>
          </a:xfrm>
          <a:prstGeom prst="roundRect">
            <a:avLst>
              <a:gd fmla="val 21429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718304" y="3127248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토지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0" y="3099816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개별공시지가 · 주변 토지 가치 수준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645152" y="3648456"/>
            <a:ext cx="685800" cy="256032"/>
          </a:xfrm>
          <a:prstGeom prst="roundRect">
            <a:avLst>
              <a:gd fmla="val 21429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718304" y="3694176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상권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0" y="3666744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반경별 POI 밀도 · 업종별 시설 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45152" y="4215384"/>
            <a:ext cx="685800" cy="256032"/>
          </a:xfrm>
          <a:prstGeom prst="roundRect">
            <a:avLst>
              <a:gd fmla="val 21429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718304" y="4261104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중심성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486400" y="4233672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강남 · 시청 · 여의도 등 3도심 거리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645152" y="4782312"/>
            <a:ext cx="685800" cy="256032"/>
          </a:xfrm>
          <a:prstGeom prst="roundRect">
            <a:avLst>
              <a:gd fmla="val 21429" name="adj"/>
            </a:avLst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718304" y="4828032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도로망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0" y="48006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교차로 · 도로망 밀도 · 간선도로 접근성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663440" y="5504688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설계 원칙: 새 위치에 적용할 수 없는 과거 광고성과·내부 영업정보는 입력에서 제외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658368" y="3840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40080" y="676656"/>
            <a:ext cx="886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데이터 소스 설계: Y와 X를 정류장 좌표로 결합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9"/>
          <p:cNvCxnSpPr/>
          <p:nvPr/>
        </p:nvCxnSpPr>
        <p:spPr>
          <a:xfrm>
            <a:off x="640080" y="1307592"/>
            <a:ext cx="1092720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9"/>
          <p:cNvSpPr/>
          <p:nvPr/>
        </p:nvSpPr>
        <p:spPr>
          <a:xfrm>
            <a:off x="8595360" y="38404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1064240" y="635508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09600" y="1767840"/>
            <a:ext cx="2194500" cy="536400"/>
          </a:xfrm>
          <a:prstGeom prst="rect">
            <a:avLst/>
          </a:prstGeom>
          <a:solidFill>
            <a:srgbClr val="5E6AD2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731520" y="1877568"/>
            <a:ext cx="201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피처 묶음</a:t>
            </a:r>
            <a:endParaRPr sz="1900"/>
          </a:p>
        </p:txBody>
      </p:sp>
      <p:sp>
        <p:nvSpPr>
          <p:cNvPr id="169" name="Google Shape;169;p9"/>
          <p:cNvSpPr/>
          <p:nvPr/>
        </p:nvSpPr>
        <p:spPr>
          <a:xfrm>
            <a:off x="2804160" y="1767840"/>
            <a:ext cx="2962800" cy="536400"/>
          </a:xfrm>
          <a:prstGeom prst="rect">
            <a:avLst/>
          </a:prstGeom>
          <a:solidFill>
            <a:srgbClr val="5E6AD2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2926080" y="1877568"/>
            <a:ext cx="27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데이터 / API</a:t>
            </a:r>
            <a:endParaRPr sz="1900"/>
          </a:p>
        </p:txBody>
      </p:sp>
      <p:sp>
        <p:nvSpPr>
          <p:cNvPr id="171" name="Google Shape;171;p9"/>
          <p:cNvSpPr/>
          <p:nvPr/>
        </p:nvSpPr>
        <p:spPr>
          <a:xfrm>
            <a:off x="5766816" y="1767840"/>
            <a:ext cx="2962800" cy="536400"/>
          </a:xfrm>
          <a:prstGeom prst="rect">
            <a:avLst/>
          </a:prstGeom>
          <a:solidFill>
            <a:srgbClr val="5E6AD2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5888736" y="1877568"/>
            <a:ext cx="27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출처 기관</a:t>
            </a:r>
            <a:endParaRPr sz="1900"/>
          </a:p>
        </p:txBody>
      </p:sp>
      <p:sp>
        <p:nvSpPr>
          <p:cNvPr id="173" name="Google Shape;173;p9"/>
          <p:cNvSpPr/>
          <p:nvPr/>
        </p:nvSpPr>
        <p:spPr>
          <a:xfrm>
            <a:off x="8729472" y="1767840"/>
            <a:ext cx="2852700" cy="536400"/>
          </a:xfrm>
          <a:prstGeom prst="rect">
            <a:avLst/>
          </a:prstGeom>
          <a:solidFill>
            <a:srgbClr val="5E6AD2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851392" y="1877568"/>
            <a:ext cx="26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규모 · 특징</a:t>
            </a:r>
            <a:endParaRPr sz="1900"/>
          </a:p>
        </p:txBody>
      </p:sp>
      <p:sp>
        <p:nvSpPr>
          <p:cNvPr id="175" name="Google Shape;175;p9"/>
          <p:cNvSpPr/>
          <p:nvPr/>
        </p:nvSpPr>
        <p:spPr>
          <a:xfrm>
            <a:off x="609600" y="2304288"/>
            <a:ext cx="21945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731520" y="2401824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버스 승하차 · 노선</a:t>
            </a:r>
            <a:endParaRPr sz="1900"/>
          </a:p>
        </p:txBody>
      </p:sp>
      <p:sp>
        <p:nvSpPr>
          <p:cNvPr id="177" name="Google Shape;177;p9"/>
          <p:cNvSpPr/>
          <p:nvPr/>
        </p:nvSpPr>
        <p:spPr>
          <a:xfrm>
            <a:off x="2804160" y="2304288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2926080" y="2401824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OA-12912 월별 CSV</a:t>
            </a:r>
            <a:endParaRPr sz="1900"/>
          </a:p>
        </p:txBody>
      </p:sp>
      <p:sp>
        <p:nvSpPr>
          <p:cNvPr id="179" name="Google Shape;179;p9"/>
          <p:cNvSpPr/>
          <p:nvPr/>
        </p:nvSpPr>
        <p:spPr>
          <a:xfrm>
            <a:off x="5766816" y="2304288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5888736" y="2401824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서울 열린데이터광장</a:t>
            </a:r>
            <a:endParaRPr sz="1900"/>
          </a:p>
        </p:txBody>
      </p:sp>
      <p:sp>
        <p:nvSpPr>
          <p:cNvPr id="181" name="Google Shape;181;p9"/>
          <p:cNvSpPr/>
          <p:nvPr/>
        </p:nvSpPr>
        <p:spPr>
          <a:xfrm>
            <a:off x="8729472" y="2304288"/>
            <a:ext cx="28527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851392" y="2401824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3~4월 · ARS 매칭 97.0%</a:t>
            </a:r>
            <a:endParaRPr sz="1900"/>
          </a:p>
        </p:txBody>
      </p:sp>
      <p:sp>
        <p:nvSpPr>
          <p:cNvPr id="183" name="Google Shape;183;p9"/>
          <p:cNvSpPr/>
          <p:nvPr/>
        </p:nvSpPr>
        <p:spPr>
          <a:xfrm>
            <a:off x="609600" y="2840736"/>
            <a:ext cx="21945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731520" y="2938272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개별공시지가</a:t>
            </a:r>
            <a:endParaRPr sz="1900"/>
          </a:p>
        </p:txBody>
      </p:sp>
      <p:sp>
        <p:nvSpPr>
          <p:cNvPr id="185" name="Google Shape;185;p9"/>
          <p:cNvSpPr/>
          <p:nvPr/>
        </p:nvSpPr>
        <p:spPr>
          <a:xfrm>
            <a:off x="2804160" y="2840736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2926080" y="2938272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V-World 데이터 API</a:t>
            </a:r>
            <a:endParaRPr sz="1900"/>
          </a:p>
        </p:txBody>
      </p:sp>
      <p:sp>
        <p:nvSpPr>
          <p:cNvPr id="187" name="Google Shape;187;p9"/>
          <p:cNvSpPr/>
          <p:nvPr/>
        </p:nvSpPr>
        <p:spPr>
          <a:xfrm>
            <a:off x="5766816" y="2840736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88736" y="2938272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국토교통부 공간정보</a:t>
            </a:r>
            <a:endParaRPr sz="1900"/>
          </a:p>
        </p:txBody>
      </p:sp>
      <p:sp>
        <p:nvSpPr>
          <p:cNvPr id="189" name="Google Shape;189;p9"/>
          <p:cNvSpPr/>
          <p:nvPr/>
        </p:nvSpPr>
        <p:spPr>
          <a:xfrm>
            <a:off x="8729472" y="2840736"/>
            <a:ext cx="28527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8851392" y="2938272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좌표 point 질의 · 100% 매칭</a:t>
            </a:r>
            <a:endParaRPr sz="1900"/>
          </a:p>
        </p:txBody>
      </p:sp>
      <p:sp>
        <p:nvSpPr>
          <p:cNvPr id="191" name="Google Shape;191;p9"/>
          <p:cNvSpPr/>
          <p:nvPr/>
        </p:nvSpPr>
        <p:spPr>
          <a:xfrm>
            <a:off x="609600" y="3377184"/>
            <a:ext cx="21945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31520" y="3474720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상권 POI 밀도</a:t>
            </a:r>
            <a:endParaRPr sz="1900"/>
          </a:p>
        </p:txBody>
      </p:sp>
      <p:sp>
        <p:nvSpPr>
          <p:cNvPr id="193" name="Google Shape;193;p9"/>
          <p:cNvSpPr/>
          <p:nvPr/>
        </p:nvSpPr>
        <p:spPr>
          <a:xfrm>
            <a:off x="2804160" y="3377184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2926080" y="3474720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소상공인 상가정보 202603</a:t>
            </a:r>
            <a:endParaRPr sz="1900"/>
          </a:p>
        </p:txBody>
      </p:sp>
      <p:sp>
        <p:nvSpPr>
          <p:cNvPr id="195" name="Google Shape;195;p9"/>
          <p:cNvSpPr/>
          <p:nvPr/>
        </p:nvSpPr>
        <p:spPr>
          <a:xfrm>
            <a:off x="5766816" y="3377184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888736" y="3474720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소상공인시장진흥공단</a:t>
            </a:r>
            <a:endParaRPr sz="1900"/>
          </a:p>
        </p:txBody>
      </p:sp>
      <p:sp>
        <p:nvSpPr>
          <p:cNvPr id="197" name="Google Shape;197;p9"/>
          <p:cNvSpPr/>
          <p:nvPr/>
        </p:nvSpPr>
        <p:spPr>
          <a:xfrm>
            <a:off x="8729472" y="3377184"/>
            <a:ext cx="28527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851392" y="3474720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537,489 업소 · 로컬 KDTree</a:t>
            </a:r>
            <a:endParaRPr sz="1900"/>
          </a:p>
        </p:txBody>
      </p:sp>
      <p:sp>
        <p:nvSpPr>
          <p:cNvPr id="199" name="Google Shape;199;p9"/>
          <p:cNvSpPr/>
          <p:nvPr/>
        </p:nvSpPr>
        <p:spPr>
          <a:xfrm>
            <a:off x="609600" y="3913632"/>
            <a:ext cx="21945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731520" y="4011168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도심 접근성</a:t>
            </a:r>
            <a:endParaRPr sz="1900"/>
          </a:p>
        </p:txBody>
      </p:sp>
      <p:sp>
        <p:nvSpPr>
          <p:cNvPr id="201" name="Google Shape;201;p9"/>
          <p:cNvSpPr/>
          <p:nvPr/>
        </p:nvSpPr>
        <p:spPr>
          <a:xfrm>
            <a:off x="2804160" y="3913632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2926080" y="4011168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3도심 좌표 (2030 도시기본계획)</a:t>
            </a:r>
            <a:endParaRPr sz="1900"/>
          </a:p>
        </p:txBody>
      </p:sp>
      <p:sp>
        <p:nvSpPr>
          <p:cNvPr id="203" name="Google Shape;203;p9"/>
          <p:cNvSpPr/>
          <p:nvPr/>
        </p:nvSpPr>
        <p:spPr>
          <a:xfrm>
            <a:off x="5766816" y="3913632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888736" y="4011168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상수 하드코딩</a:t>
            </a:r>
            <a:endParaRPr sz="1900"/>
          </a:p>
        </p:txBody>
      </p:sp>
      <p:sp>
        <p:nvSpPr>
          <p:cNvPr id="205" name="Google Shape;205;p9"/>
          <p:cNvSpPr/>
          <p:nvPr/>
        </p:nvSpPr>
        <p:spPr>
          <a:xfrm>
            <a:off x="8729472" y="3913632"/>
            <a:ext cx="28527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851392" y="4011168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불필요 · Haversine</a:t>
            </a:r>
            <a:endParaRPr sz="1900"/>
          </a:p>
        </p:txBody>
      </p:sp>
      <p:sp>
        <p:nvSpPr>
          <p:cNvPr id="207" name="Google Shape;207;p9"/>
          <p:cNvSpPr/>
          <p:nvPr/>
        </p:nvSpPr>
        <p:spPr>
          <a:xfrm>
            <a:off x="609600" y="4450080"/>
            <a:ext cx="21945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31520" y="4547616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지하철 접근성</a:t>
            </a:r>
            <a:endParaRPr sz="1900"/>
          </a:p>
        </p:txBody>
      </p:sp>
      <p:sp>
        <p:nvSpPr>
          <p:cNvPr id="209" name="Google Shape;209;p9"/>
          <p:cNvSpPr/>
          <p:nvPr/>
        </p:nvSpPr>
        <p:spPr>
          <a:xfrm>
            <a:off x="2804160" y="4450080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2926080" y="4547616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역 좌표 · 역 승하차 API</a:t>
            </a:r>
            <a:endParaRPr sz="1900"/>
          </a:p>
        </p:txBody>
      </p:sp>
      <p:sp>
        <p:nvSpPr>
          <p:cNvPr id="211" name="Google Shape;211;p9"/>
          <p:cNvSpPr/>
          <p:nvPr/>
        </p:nvSpPr>
        <p:spPr>
          <a:xfrm>
            <a:off x="5766816" y="4450080"/>
            <a:ext cx="29628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5888736" y="4547616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서울 열린데이터광장</a:t>
            </a:r>
            <a:endParaRPr sz="1900"/>
          </a:p>
        </p:txBody>
      </p:sp>
      <p:sp>
        <p:nvSpPr>
          <p:cNvPr id="213" name="Google Shape;213;p9"/>
          <p:cNvSpPr/>
          <p:nvPr/>
        </p:nvSpPr>
        <p:spPr>
          <a:xfrm>
            <a:off x="8729472" y="4450080"/>
            <a:ext cx="2852700" cy="536400"/>
          </a:xfrm>
          <a:prstGeom prst="rect">
            <a:avLst/>
          </a:prstGeom>
          <a:solidFill>
            <a:srgbClr val="191A1B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8851392" y="4547616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역 783개 · 3~4월 61일</a:t>
            </a:r>
            <a:endParaRPr sz="1900"/>
          </a:p>
        </p:txBody>
      </p:sp>
      <p:sp>
        <p:nvSpPr>
          <p:cNvPr id="215" name="Google Shape;215;p9"/>
          <p:cNvSpPr/>
          <p:nvPr/>
        </p:nvSpPr>
        <p:spPr>
          <a:xfrm>
            <a:off x="609600" y="4986528"/>
            <a:ext cx="21945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31520" y="5084064"/>
            <a:ext cx="20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도로망 구조</a:t>
            </a:r>
            <a:endParaRPr sz="1900"/>
          </a:p>
        </p:txBody>
      </p:sp>
      <p:sp>
        <p:nvSpPr>
          <p:cNvPr id="217" name="Google Shape;217;p9"/>
          <p:cNvSpPr/>
          <p:nvPr/>
        </p:nvSpPr>
        <p:spPr>
          <a:xfrm>
            <a:off x="2804160" y="4986528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2926080" y="5084064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OpenStreetMap (osmnx 2.1)</a:t>
            </a:r>
            <a:endParaRPr sz="1900"/>
          </a:p>
        </p:txBody>
      </p:sp>
      <p:sp>
        <p:nvSpPr>
          <p:cNvPr id="219" name="Google Shape;219;p9"/>
          <p:cNvSpPr/>
          <p:nvPr/>
        </p:nvSpPr>
        <p:spPr>
          <a:xfrm>
            <a:off x="5766816" y="4986528"/>
            <a:ext cx="29628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5888736" y="5084064"/>
            <a:ext cx="27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OSM contributors (ODbL)</a:t>
            </a:r>
            <a:endParaRPr sz="1900"/>
          </a:p>
        </p:txBody>
      </p:sp>
      <p:sp>
        <p:nvSpPr>
          <p:cNvPr id="221" name="Google Shape;221;p9"/>
          <p:cNvSpPr/>
          <p:nvPr/>
        </p:nvSpPr>
        <p:spPr>
          <a:xfrm>
            <a:off x="8729472" y="4986528"/>
            <a:ext cx="2852700" cy="536400"/>
          </a:xfrm>
          <a:prstGeom prst="rect">
            <a:avLst/>
          </a:prstGeom>
          <a:solidFill>
            <a:srgbClr val="0F1011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8851392" y="5084064"/>
            <a:ext cx="26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0D6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노드 86,397 · 1회 fetch</a:t>
            </a:r>
            <a:endParaRPr sz="1900"/>
          </a:p>
        </p:txBody>
      </p:sp>
      <p:sp>
        <p:nvSpPr>
          <p:cNvPr id="223" name="Google Shape;223;p9"/>
          <p:cNvSpPr/>
          <p:nvPr/>
        </p:nvSpPr>
        <p:spPr>
          <a:xfrm>
            <a:off x="609600" y="5620512"/>
            <a:ext cx="10972800" cy="463200"/>
          </a:xfrm>
          <a:prstGeom prst="rect">
            <a:avLst/>
          </a:prstGeom>
          <a:solidFill>
            <a:srgbClr val="28282C"/>
          </a:solidFill>
          <a:ln cap="flat" cmpd="sng" w="1270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3333" rotWithShape="0" dir="5400000" dist="30667">
              <a:srgbClr val="000000">
                <a:alpha val="3490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853440" y="5705856"/>
            <a:ext cx="1054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8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 최종 피처 수: 32개 (도시구조 29 + 결측 flag 3)  |  원시 위도·경도는 피처 아님 (새 지역 일반화·도시구조 해석 목적)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분석 단위: 정류장 1개 = 모델 테이블 1행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0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0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77240" y="1627632"/>
            <a:ext cx="10607040" cy="3931920"/>
          </a:xfrm>
          <a:prstGeom prst="roundRect">
            <a:avLst>
              <a:gd fmla="val 2791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68680" y="18745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정류장ID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19456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좌표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52044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광고가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89204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교통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26364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토지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77240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상권300m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914400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중심지거리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378440" y="18745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도로망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>
            <a:off x="868680" y="2240280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0"/>
          <p:cNvSpPr/>
          <p:nvPr/>
        </p:nvSpPr>
        <p:spPr>
          <a:xfrm>
            <a:off x="868680" y="252374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BS-100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19456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37.xxx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127.xxx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52044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60만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9204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1800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26364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높음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77240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42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914400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1.2km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378440" y="252374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>
            <a:off x="868680" y="2944368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1E20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0"/>
          <p:cNvSpPr/>
          <p:nvPr/>
        </p:nvSpPr>
        <p:spPr>
          <a:xfrm>
            <a:off x="868680" y="30906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BS-101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19456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37.xxx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127.xxx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52044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70만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89204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2100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26364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높음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77240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88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914400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2.7km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0378440" y="309067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높음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0"/>
          <p:cNvCxnSpPr/>
          <p:nvPr/>
        </p:nvCxnSpPr>
        <p:spPr>
          <a:xfrm>
            <a:off x="868680" y="3511296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1E20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0"/>
          <p:cNvSpPr/>
          <p:nvPr/>
        </p:nvSpPr>
        <p:spPr>
          <a:xfrm>
            <a:off x="868680" y="3657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BS-102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19456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37.xxx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127.xxx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52044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80만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89204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2400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26364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높음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77240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135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14400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5.4km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0378440" y="36576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낮음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0"/>
          <p:cNvCxnSpPr/>
          <p:nvPr/>
        </p:nvCxnSpPr>
        <p:spPr>
          <a:xfrm>
            <a:off x="868680" y="4078224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1E20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0"/>
          <p:cNvSpPr/>
          <p:nvPr/>
        </p:nvSpPr>
        <p:spPr>
          <a:xfrm>
            <a:off x="868680" y="42245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BS-103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219456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37.xxx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127.xxx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52044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90만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89204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2700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6364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높음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77240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57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14400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8.1km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378440" y="422452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22960" y="587959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공간 결합 과정에서 모든 변수는 정류장 좌표를 기준으로 재계산합니다.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7525775" y="5879600"/>
            <a:ext cx="367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→ 임의 좌표에도 같은 방식으로 적용 가능한 구조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핵심 피처 그룹: 광고가를 설명할 도시 구조 변수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1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1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31520" y="1828800"/>
            <a:ext cx="1874520" cy="3063240"/>
          </a:xfrm>
          <a:prstGeom prst="roundRect">
            <a:avLst>
              <a:gd fmla="val 5854" name="adj"/>
            </a:avLst>
          </a:prstGeom>
          <a:solidFill>
            <a:srgbClr val="0F1011"/>
          </a:solidFill>
          <a:ln cap="flat" cmpd="sng" w="12700">
            <a:solidFill>
              <a:srgbClr val="60A5F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1389888" y="2121408"/>
            <a:ext cx="530352" cy="530352"/>
          </a:xfrm>
          <a:prstGeom prst="ellipse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1563624" y="224942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896112" y="28529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교통 접근성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32688" y="3401568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승하차 인원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경유 노선 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지하철역 거리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2999232" y="1828800"/>
            <a:ext cx="1874520" cy="3063240"/>
          </a:xfrm>
          <a:prstGeom prst="roundRect">
            <a:avLst>
              <a:gd fmla="val 5854" name="adj"/>
            </a:avLst>
          </a:prstGeom>
          <a:solidFill>
            <a:srgbClr val="0F1011"/>
          </a:solidFill>
          <a:ln cap="flat" cmpd="sng" w="12700">
            <a:solidFill>
              <a:srgbClr val="10B981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657600" y="2121408"/>
            <a:ext cx="530352" cy="530352"/>
          </a:xfrm>
          <a:prstGeom prst="ellipse">
            <a:avLst/>
          </a:prstGeom>
          <a:solidFill>
            <a:srgbClr val="10B981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3831336" y="224942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163824" y="28529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토지 가치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200400" y="3401568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개별공시지가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주변 토지 가치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용도지역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266944" y="1828800"/>
            <a:ext cx="1874520" cy="3063240"/>
          </a:xfrm>
          <a:prstGeom prst="roundRect">
            <a:avLst>
              <a:gd fmla="val 5854" name="adj"/>
            </a:avLst>
          </a:prstGeom>
          <a:solidFill>
            <a:srgbClr val="0F1011"/>
          </a:solidFill>
          <a:ln cap="flat" cmpd="sng" w="12700">
            <a:solidFill>
              <a:srgbClr val="FBBF2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925312" y="2121408"/>
            <a:ext cx="530352" cy="530352"/>
          </a:xfrm>
          <a:prstGeom prst="ellipse">
            <a:avLst/>
          </a:prstGeom>
          <a:solidFill>
            <a:srgbClr val="FBBF24">
              <a:alpha val="80000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099048" y="224942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431536" y="28529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상권 밀도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468112" y="3401568"/>
            <a:ext cx="1481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100/300/500m POI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음식·카페·병원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소매·편의시설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7534656" y="1828800"/>
            <a:ext cx="1874520" cy="3063240"/>
          </a:xfrm>
          <a:prstGeom prst="roundRect">
            <a:avLst>
              <a:gd fmla="val 5854" name="adj"/>
            </a:avLst>
          </a:prstGeom>
          <a:solidFill>
            <a:srgbClr val="0F1011"/>
          </a:solidFill>
          <a:ln cap="flat" cmpd="sng" w="12700">
            <a:solidFill>
              <a:srgbClr val="7170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8193024" y="2121408"/>
            <a:ext cx="530352" cy="530352"/>
          </a:xfrm>
          <a:prstGeom prst="ellipse">
            <a:avLst/>
          </a:prstGeom>
          <a:solidFill>
            <a:srgbClr val="7170FF">
              <a:alpha val="80000"/>
            </a:srgbClr>
          </a:solidFill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8366760" y="224942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7699248" y="28529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중심지 접근성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7735824" y="3401568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강남·시청·여의도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가장 가까운 도심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도심별 거리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802368" y="1828800"/>
            <a:ext cx="1874520" cy="3063240"/>
          </a:xfrm>
          <a:prstGeom prst="roundRect">
            <a:avLst>
              <a:gd fmla="val 5854" name="adj"/>
            </a:avLst>
          </a:prstGeom>
          <a:solidFill>
            <a:srgbClr val="0F1011"/>
          </a:solidFill>
          <a:ln cap="flat" cmpd="sng" w="12700">
            <a:solidFill>
              <a:srgbClr val="F87171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0460736" y="2121408"/>
            <a:ext cx="530352" cy="530352"/>
          </a:xfrm>
          <a:prstGeom prst="ellipse">
            <a:avLst/>
          </a:prstGeom>
          <a:solidFill>
            <a:srgbClr val="F87171">
              <a:alpha val="80000"/>
            </a:srgbClr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10634472" y="224942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9966960" y="28529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도로망 구조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0003536" y="3401568"/>
            <a:ext cx="14813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교차로 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도로망 밀도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간선도로 접근성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77240" y="562356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초기 모델은 핵심 4개 축(교통·토지·상권·지역 맥락)을 우선 구성하고, 도로망·도시형태는 추가 피처로 검토합니다.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95050" y="5974538"/>
            <a:ext cx="10744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* </a:t>
            </a:r>
            <a:r>
              <a:rPr lang="en-US" sz="1000">
                <a:solidFill>
                  <a:schemeClr val="lt1"/>
                </a:solidFill>
              </a:rPr>
              <a:t>POI (Point of Interest) = 관심 지점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버스정류장 기준 반경 100m/300m/500m 이내 지하철역, 버스정류장, 카페, 음식점, 편의점, 학교, 병원, 공공기관, 쇼핑몰과 같은 시설이 몇개가 있는지를 의미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피처 엔지니어링: 좌표를 도시적 맥락으로 변환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2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2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188720" y="1828800"/>
            <a:ext cx="2743200" cy="2743200"/>
          </a:xfrm>
          <a:prstGeom prst="ellipse">
            <a:avLst/>
          </a:prstGeom>
          <a:solidFill>
            <a:srgbClr val="7170FF">
              <a:alpha val="5098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600200" y="2240280"/>
            <a:ext cx="1920240" cy="1920240"/>
          </a:xfrm>
          <a:prstGeom prst="ellipse">
            <a:avLst/>
          </a:prstGeom>
          <a:solidFill>
            <a:srgbClr val="7170FF">
              <a:alpha val="5098"/>
            </a:srgbClr>
          </a:solidFill>
          <a:ln cap="flat" cmpd="sng" w="12700">
            <a:solidFill>
              <a:srgbClr val="717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2148840" y="2788920"/>
            <a:ext cx="822960" cy="822960"/>
          </a:xfrm>
          <a:prstGeom prst="ellipse">
            <a:avLst/>
          </a:prstGeom>
          <a:solidFill>
            <a:srgbClr val="7170FF">
              <a:alpha val="25098"/>
            </a:srgbClr>
          </a:solidFill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2468880" y="3108960"/>
            <a:ext cx="164592" cy="164592"/>
          </a:xfrm>
          <a:prstGeom prst="ellipse">
            <a:avLst/>
          </a:prstGeom>
          <a:solidFill>
            <a:srgbClr val="F7F8F8"/>
          </a:solidFill>
          <a:ln cap="flat" cmpd="sng" w="12700">
            <a:solidFill>
              <a:srgbClr val="F7F8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965960" y="4846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 좌표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663440" y="1627632"/>
            <a:ext cx="6126480" cy="512064"/>
          </a:xfrm>
          <a:prstGeom prst="roundRect">
            <a:avLst>
              <a:gd fmla="val 21429" name="adj"/>
            </a:avLst>
          </a:prstGeom>
          <a:solidFill>
            <a:srgbClr val="191A1B"/>
          </a:solidFill>
          <a:ln cap="flat" cmpd="sng" w="12700">
            <a:solidFill>
              <a:srgbClr val="242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4901184" y="174650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반경 기반 집계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583680" y="17465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100m/300m/500m 버퍼 내 POI 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663440" y="2414016"/>
            <a:ext cx="6126480" cy="512064"/>
          </a:xfrm>
          <a:prstGeom prst="roundRect">
            <a:avLst>
              <a:gd fmla="val 21429" name="adj"/>
            </a:avLst>
          </a:prstGeom>
          <a:solidFill>
            <a:srgbClr val="0F1011"/>
          </a:solidFill>
          <a:ln cap="flat" cmpd="sng" w="12700">
            <a:solidFill>
              <a:srgbClr val="242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4901184" y="25328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거리 기반 변수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583680" y="25328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최근접 지하철역·중심지·주요 도로 거리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663440" y="3200400"/>
            <a:ext cx="6126480" cy="512064"/>
          </a:xfrm>
          <a:prstGeom prst="roundRect">
            <a:avLst>
              <a:gd fmla="val 21429" name="adj"/>
            </a:avLst>
          </a:prstGeom>
          <a:solidFill>
            <a:srgbClr val="191A1B"/>
          </a:solidFill>
          <a:ln cap="flat" cmpd="sng" w="12700">
            <a:solidFill>
              <a:srgbClr val="242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4901184" y="3319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밀도 변수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583680" y="33192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상권·교차로·도로망 밀도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663440" y="3986784"/>
            <a:ext cx="6126480" cy="512064"/>
          </a:xfrm>
          <a:prstGeom prst="roundRect">
            <a:avLst>
              <a:gd fmla="val 21429" name="adj"/>
            </a:avLst>
          </a:prstGeom>
          <a:solidFill>
            <a:srgbClr val="0F1011"/>
          </a:solidFill>
          <a:ln cap="flat" cmpd="sng" w="12700">
            <a:solidFill>
              <a:srgbClr val="242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4901184" y="41056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범주형 맥락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583680" y="41056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자치구·권역·중심/외곽 구분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663440" y="4773168"/>
            <a:ext cx="6126480" cy="512064"/>
          </a:xfrm>
          <a:prstGeom prst="roundRect">
            <a:avLst>
              <a:gd fmla="val 21429" name="adj"/>
            </a:avLst>
          </a:prstGeom>
          <a:solidFill>
            <a:srgbClr val="191A1B"/>
          </a:solidFill>
          <a:ln cap="flat" cmpd="sng" w="12700">
            <a:solidFill>
              <a:srgbClr val="242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4901184" y="489204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변수 변환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583680" y="4892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가격·공시지가 로그 변환/스케일링 검토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2"/>
          <p:cNvCxnSpPr/>
          <p:nvPr/>
        </p:nvCxnSpPr>
        <p:spPr>
          <a:xfrm>
            <a:off x="3977640" y="3200400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12"/>
          <p:cNvSpPr/>
          <p:nvPr/>
        </p:nvSpPr>
        <p:spPr>
          <a:xfrm>
            <a:off x="868680" y="5836920"/>
            <a:ext cx="987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핵심은 좌표 하나를 “설명 가능한 도시 변수 세트”로 바꾸는 과정입니다.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회귀 기반 광고비 예측 모델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3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3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13"/>
          <p:cNvGrpSpPr/>
          <p:nvPr/>
        </p:nvGrpSpPr>
        <p:grpSpPr>
          <a:xfrm>
            <a:off x="822923" y="1466831"/>
            <a:ext cx="3063300" cy="1374757"/>
            <a:chOff x="822950" y="1737351"/>
            <a:chExt cx="3109003" cy="1679400"/>
          </a:xfrm>
        </p:grpSpPr>
        <p:sp>
          <p:nvSpPr>
            <p:cNvPr id="369" name="Google Shape;369;p13"/>
            <p:cNvSpPr/>
            <p:nvPr/>
          </p:nvSpPr>
          <p:spPr>
            <a:xfrm>
              <a:off x="822950" y="1737351"/>
              <a:ext cx="3108900" cy="1679400"/>
            </a:xfrm>
            <a:prstGeom prst="roundRect">
              <a:avLst>
                <a:gd fmla="val 3529" name="adj"/>
              </a:avLst>
            </a:prstGeom>
            <a:solidFill>
              <a:srgbClr val="191A1B"/>
            </a:solidFill>
            <a:ln cap="flat" cmpd="sng" w="12700">
              <a:solidFill>
                <a:srgbClr val="2A2D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1097280" y="2057400"/>
              <a:ext cx="23774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7F8F8"/>
                </a:buClr>
                <a:buSzPts val="2200"/>
                <a:buFont typeface="Noto Sans"/>
                <a:buNone/>
              </a:pPr>
              <a:r>
                <a:rPr b="1" i="0" lang="en-US" sz="2200" u="none" cap="none" strike="noStrike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입력 </a:t>
              </a:r>
              <a:r>
                <a:rPr b="1" lang="en-US" sz="2200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변수 </a:t>
              </a:r>
              <a:r>
                <a:rPr b="1" i="0" lang="en-US" sz="2200" u="none" cap="none" strike="noStrike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X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823053" y="2689334"/>
              <a:ext cx="31089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CDD2"/>
                </a:buClr>
                <a:buSzPts val="1800"/>
                <a:buFont typeface="Noto Sans"/>
                <a:buNone/>
              </a:pPr>
              <a:r>
                <a:rPr b="0" i="0" lang="en-US" sz="1800" u="none" cap="none" strike="noStrike">
                  <a:solidFill>
                    <a:srgbClr val="C9CDD2"/>
                  </a:solidFill>
                  <a:latin typeface="Noto Sans"/>
                  <a:ea typeface="Noto Sans"/>
                  <a:cs typeface="Noto Sans"/>
                  <a:sym typeface="Noto Sans"/>
                </a:rPr>
                <a:t>정류장 주변의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800" u="none" cap="none" strike="noStrike">
                  <a:solidFill>
                    <a:srgbClr val="C9CDD2"/>
                  </a:solidFill>
                  <a:latin typeface="Noto Sans"/>
                  <a:ea typeface="Noto Sans"/>
                  <a:cs typeface="Noto Sans"/>
                  <a:sym typeface="Noto Sans"/>
                </a:rPr>
                <a:t>도시 구조 피처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3"/>
          <p:cNvGrpSpPr/>
          <p:nvPr/>
        </p:nvGrpSpPr>
        <p:grpSpPr>
          <a:xfrm>
            <a:off x="819638" y="3281113"/>
            <a:ext cx="3063325" cy="1334787"/>
            <a:chOff x="4526275" y="1737350"/>
            <a:chExt cx="3063325" cy="1679400"/>
          </a:xfrm>
        </p:grpSpPr>
        <p:sp>
          <p:nvSpPr>
            <p:cNvPr id="373" name="Google Shape;373;p13"/>
            <p:cNvSpPr/>
            <p:nvPr/>
          </p:nvSpPr>
          <p:spPr>
            <a:xfrm>
              <a:off x="4526275" y="1737350"/>
              <a:ext cx="3063300" cy="1679400"/>
            </a:xfrm>
            <a:prstGeom prst="roundRect">
              <a:avLst>
                <a:gd fmla="val 3810" name="adj"/>
              </a:avLst>
            </a:prstGeom>
            <a:solidFill>
              <a:srgbClr val="0F1011"/>
            </a:solidFill>
            <a:ln cap="flat" cmpd="sng" w="12700">
              <a:solidFill>
                <a:srgbClr val="7170FF">
                  <a:alpha val="8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5010912" y="2026920"/>
              <a:ext cx="2103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7F8F8"/>
                </a:buClr>
                <a:buSzPts val="2200"/>
                <a:buFont typeface="Noto Sans"/>
                <a:buNone/>
              </a:pPr>
              <a:r>
                <a:rPr b="1" i="0" lang="en-US" sz="2200" u="none" cap="none" strike="noStrike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회귀 모델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4526300" y="2601607"/>
              <a:ext cx="30633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CDD2"/>
                </a:buClr>
                <a:buSzPts val="1700"/>
                <a:buFont typeface="Noto Sans"/>
                <a:buNone/>
              </a:pPr>
              <a:r>
                <a:rPr b="0" i="0" lang="en-US" sz="1700" u="none" cap="none" strike="noStrike">
                  <a:solidFill>
                    <a:srgbClr val="C9CDD2"/>
                  </a:solidFill>
                  <a:latin typeface="Noto Sans"/>
                  <a:ea typeface="Noto Sans"/>
                  <a:cs typeface="Noto Sans"/>
                  <a:sym typeface="Noto Sans"/>
                </a:rPr>
                <a:t>도시정보 → 가격</a:t>
              </a: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700" u="none" cap="none" strike="noStrike">
                  <a:solidFill>
                    <a:srgbClr val="C9CDD2"/>
                  </a:solidFill>
                  <a:latin typeface="Noto Sans"/>
                  <a:ea typeface="Noto Sans"/>
                  <a:cs typeface="Noto Sans"/>
                  <a:sym typeface="Noto Sans"/>
                </a:rPr>
                <a:t>패턴 학습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13"/>
          <p:cNvGrpSpPr/>
          <p:nvPr/>
        </p:nvGrpSpPr>
        <p:grpSpPr>
          <a:xfrm>
            <a:off x="800075" y="5033707"/>
            <a:ext cx="3108900" cy="1374757"/>
            <a:chOff x="8183875" y="1737355"/>
            <a:chExt cx="3108900" cy="1679400"/>
          </a:xfrm>
        </p:grpSpPr>
        <p:sp>
          <p:nvSpPr>
            <p:cNvPr id="377" name="Google Shape;377;p13"/>
            <p:cNvSpPr/>
            <p:nvPr/>
          </p:nvSpPr>
          <p:spPr>
            <a:xfrm>
              <a:off x="8183875" y="1737355"/>
              <a:ext cx="3108900" cy="1679400"/>
            </a:xfrm>
            <a:prstGeom prst="roundRect">
              <a:avLst>
                <a:gd fmla="val 3529" name="adj"/>
              </a:avLst>
            </a:prstGeom>
            <a:solidFill>
              <a:srgbClr val="191A1B"/>
            </a:solidFill>
            <a:ln cap="flat" cmpd="sng" w="12700">
              <a:solidFill>
                <a:srgbClr val="2A2D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8458200" y="2057400"/>
              <a:ext cx="2468880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7F8F8"/>
                </a:buClr>
                <a:buSzPts val="2200"/>
                <a:buFont typeface="Noto Sans"/>
                <a:buNone/>
              </a:pPr>
              <a:r>
                <a:rPr b="1" i="0" lang="en-US" sz="2200" u="none" cap="none" strike="noStrike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출력 </a:t>
              </a:r>
              <a:r>
                <a:rPr b="1" lang="en-US" sz="2200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변수</a:t>
              </a:r>
              <a:r>
                <a:rPr b="1" i="0" lang="en-US" sz="2200" u="none" cap="none" strike="noStrike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 Y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8183875" y="2697492"/>
              <a:ext cx="31089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CDD2"/>
                </a:buClr>
                <a:buSzPts val="1800"/>
                <a:buFont typeface="Noto Sans"/>
                <a:buNone/>
              </a:pPr>
              <a:r>
                <a:rPr b="0" i="0" lang="en-US" sz="1800" u="none" cap="none" strike="noStrike">
                  <a:solidFill>
                    <a:srgbClr val="C9CDD2"/>
                  </a:solidFill>
                  <a:latin typeface="Noto Sans"/>
                  <a:ea typeface="Noto Sans"/>
                  <a:cs typeface="Noto Sans"/>
                  <a:sym typeface="Noto Sans"/>
                </a:rPr>
                <a:t>예상 월 광고 단가+ 오차 범위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0" name="Google Shape;380;p13"/>
          <p:cNvCxnSpPr>
            <a:stCxn id="369" idx="2"/>
            <a:endCxn id="373" idx="0"/>
          </p:cNvCxnSpPr>
          <p:nvPr/>
        </p:nvCxnSpPr>
        <p:spPr>
          <a:xfrm flipH="1">
            <a:off x="2351223" y="2841588"/>
            <a:ext cx="3300" cy="43950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13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3"/>
          <p:cNvCxnSpPr/>
          <p:nvPr/>
        </p:nvCxnSpPr>
        <p:spPr>
          <a:xfrm flipH="1">
            <a:off x="2351223" y="4594188"/>
            <a:ext cx="3300" cy="439500"/>
          </a:xfrm>
          <a:prstGeom prst="straightConnector1">
            <a:avLst/>
          </a:prstGeom>
          <a:noFill/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3" name="Google Shape;383;p13"/>
          <p:cNvSpPr/>
          <p:nvPr/>
        </p:nvSpPr>
        <p:spPr>
          <a:xfrm>
            <a:off x="4206175" y="1634775"/>
            <a:ext cx="7361100" cy="4720200"/>
          </a:xfrm>
          <a:prstGeom prst="rect">
            <a:avLst/>
          </a:prstGeom>
          <a:solidFill>
            <a:srgbClr val="191A1B"/>
          </a:solidFill>
          <a:ln cap="flat" cmpd="sng" w="1405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8996" rotWithShape="0" dir="5400000" dist="33923">
              <a:srgbClr val="000000">
                <a:alpha val="34900"/>
              </a:srgbClr>
            </a:outerShdw>
          </a:effectLst>
        </p:spPr>
        <p:txBody>
          <a:bodyPr anchorCtr="0" anchor="ctr" bIns="67400" lIns="134850" spcFirstLastPara="1" rIns="134850" wrap="square" tIns="6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4475906" y="1769642"/>
            <a:ext cx="620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0">
                <a:solidFill>
                  <a:srgbClr val="5E6AD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비교 및 평가 계획</a:t>
            </a:r>
            <a:endParaRPr b="1" sz="2065"/>
          </a:p>
        </p:txBody>
      </p:sp>
      <p:sp>
        <p:nvSpPr>
          <p:cNvPr id="385" name="Google Shape;385;p13"/>
          <p:cNvSpPr/>
          <p:nvPr/>
        </p:nvSpPr>
        <p:spPr>
          <a:xfrm>
            <a:off x="4408475" y="2241675"/>
            <a:ext cx="6965400" cy="876600"/>
          </a:xfrm>
          <a:prstGeom prst="rect">
            <a:avLst/>
          </a:prstGeom>
          <a:solidFill>
            <a:srgbClr val="28282C"/>
          </a:solidFill>
          <a:ln cap="flat" cmpd="sng" w="1405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8996" rotWithShape="0" dir="5400000" dist="33923">
              <a:srgbClr val="000000">
                <a:alpha val="34900"/>
              </a:srgbClr>
            </a:outerShdw>
          </a:effectLst>
        </p:spPr>
        <p:txBody>
          <a:bodyPr anchorCtr="0" anchor="ctr" bIns="67400" lIns="134850" spcFirstLastPara="1" rIns="134850" wrap="square" tIns="6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4610772" y="2376537"/>
            <a:ext cx="1348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8A8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1단계</a:t>
            </a:r>
            <a:endParaRPr sz="2065"/>
          </a:p>
        </p:txBody>
      </p:sp>
      <p:sp>
        <p:nvSpPr>
          <p:cNvPr id="387" name="Google Shape;387;p13"/>
          <p:cNvSpPr txBox="1"/>
          <p:nvPr/>
        </p:nvSpPr>
        <p:spPr>
          <a:xfrm>
            <a:off x="5959427" y="2376537"/>
            <a:ext cx="26973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</a:t>
            </a:r>
            <a:endParaRPr b="1" sz="1917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en-US" sz="1917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Dummy</a:t>
            </a:r>
            <a:endParaRPr sz="2065"/>
          </a:p>
        </p:txBody>
      </p:sp>
      <p:sp>
        <p:nvSpPr>
          <p:cNvPr id="388" name="Google Shape;388;p13"/>
          <p:cNvSpPr txBox="1"/>
          <p:nvPr/>
        </p:nvSpPr>
        <p:spPr>
          <a:xfrm>
            <a:off x="8724175" y="2502238"/>
            <a:ext cx="2649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최소 성능 기준선</a:t>
            </a:r>
            <a:endParaRPr sz="2065">
              <a:solidFill>
                <a:schemeClr val="lt2"/>
              </a:solidFill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4408475" y="3226192"/>
            <a:ext cx="6965400" cy="876600"/>
          </a:xfrm>
          <a:prstGeom prst="rect">
            <a:avLst/>
          </a:prstGeom>
          <a:solidFill>
            <a:srgbClr val="28282C"/>
          </a:solidFill>
          <a:ln cap="flat" cmpd="sng" w="1405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8996" rotWithShape="0" dir="5400000" dist="33923">
              <a:srgbClr val="000000">
                <a:alpha val="34900"/>
              </a:srgbClr>
            </a:outerShdw>
          </a:effectLst>
        </p:spPr>
        <p:txBody>
          <a:bodyPr anchorCtr="0" anchor="ctr" bIns="67400" lIns="134850" spcFirstLastPara="1" rIns="134850" wrap="square" tIns="6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4610772" y="3361057"/>
            <a:ext cx="1348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8A8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2단계</a:t>
            </a:r>
            <a:endParaRPr sz="2065"/>
          </a:p>
        </p:txBody>
      </p:sp>
      <p:sp>
        <p:nvSpPr>
          <p:cNvPr id="391" name="Google Shape;391;p13"/>
          <p:cNvSpPr txBox="1"/>
          <p:nvPr/>
        </p:nvSpPr>
        <p:spPr>
          <a:xfrm>
            <a:off x="5959427" y="3361057"/>
            <a:ext cx="26973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7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</a:t>
            </a:r>
            <a:r>
              <a:rPr b="1"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</a:t>
            </a:r>
            <a:endParaRPr b="1" sz="1917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Linear Regression</a:t>
            </a:r>
            <a:endParaRPr sz="1917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13"/>
          <p:cNvSpPr txBox="1"/>
          <p:nvPr/>
        </p:nvSpPr>
        <p:spPr>
          <a:xfrm>
            <a:off x="8724175" y="3441095"/>
            <a:ext cx="2649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2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선형 관계 포착</a:t>
            </a:r>
            <a:endParaRPr sz="2065">
              <a:solidFill>
                <a:schemeClr val="lt2"/>
              </a:solidFill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408475" y="4210710"/>
            <a:ext cx="6965400" cy="876600"/>
          </a:xfrm>
          <a:prstGeom prst="rect">
            <a:avLst/>
          </a:prstGeom>
          <a:solidFill>
            <a:srgbClr val="28282C"/>
          </a:solidFill>
          <a:ln cap="flat" cmpd="sng" w="1405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8996" rotWithShape="0" dir="5400000" dist="33923">
              <a:srgbClr val="000000">
                <a:alpha val="34900"/>
              </a:srgbClr>
            </a:outerShdw>
          </a:effectLst>
        </p:spPr>
        <p:txBody>
          <a:bodyPr anchorCtr="0" anchor="ctr" bIns="67400" lIns="134850" spcFirstLastPara="1" rIns="134850" wrap="square" tIns="6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4610772" y="4345577"/>
            <a:ext cx="1348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8A8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3단계</a:t>
            </a:r>
            <a:endParaRPr sz="2065"/>
          </a:p>
        </p:txBody>
      </p:sp>
      <p:sp>
        <p:nvSpPr>
          <p:cNvPr id="395" name="Google Shape;395;p13"/>
          <p:cNvSpPr txBox="1"/>
          <p:nvPr/>
        </p:nvSpPr>
        <p:spPr>
          <a:xfrm>
            <a:off x="5959427" y="4345577"/>
            <a:ext cx="26973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Ensemble Model</a:t>
            </a:r>
            <a:endParaRPr b="1" sz="1917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0" i="0" lang="en-US" sz="1917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 Forest</a:t>
            </a:r>
            <a:endParaRPr sz="2065"/>
          </a:p>
        </p:txBody>
      </p:sp>
      <p:sp>
        <p:nvSpPr>
          <p:cNvPr id="396" name="Google Shape;396;p13"/>
          <p:cNvSpPr txBox="1"/>
          <p:nvPr/>
        </p:nvSpPr>
        <p:spPr>
          <a:xfrm>
            <a:off x="8724175" y="4486575"/>
            <a:ext cx="2649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2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비선형</a:t>
            </a:r>
            <a:r>
              <a:rPr lang="en-US" sz="1622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패턴 탐색</a:t>
            </a:r>
            <a:endParaRPr sz="2065">
              <a:solidFill>
                <a:schemeClr val="lt2"/>
              </a:solidFill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4408475" y="5195227"/>
            <a:ext cx="6965400" cy="876600"/>
          </a:xfrm>
          <a:prstGeom prst="rect">
            <a:avLst/>
          </a:prstGeom>
          <a:solidFill>
            <a:srgbClr val="5E6AD2"/>
          </a:solidFill>
          <a:ln cap="flat" cmpd="sng" w="14050">
            <a:solidFill>
              <a:srgbClr val="23252A"/>
            </a:solidFill>
            <a:prstDash val="solid"/>
            <a:round/>
            <a:headEnd len="sm" w="sm" type="none"/>
            <a:tailEnd len="sm" w="sm" type="none"/>
          </a:ln>
          <a:effectLst>
            <a:outerShdw blurRad="58996" rotWithShape="0" dir="5400000" dist="33923">
              <a:srgbClr val="000000">
                <a:alpha val="34900"/>
              </a:srgbClr>
            </a:outerShdw>
          </a:effectLst>
        </p:spPr>
        <p:txBody>
          <a:bodyPr anchorCtr="0" anchor="ctr" bIns="67400" lIns="134850" spcFirstLastPara="1" rIns="134850" wrap="square" tIns="6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4610772" y="5330097"/>
            <a:ext cx="1348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75" u="none" cap="none" strike="noStrike">
                <a:solidFill>
                  <a:srgbClr val="8A8F9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4단계 ★</a:t>
            </a:r>
            <a:endParaRPr sz="2065"/>
          </a:p>
        </p:txBody>
      </p:sp>
      <p:sp>
        <p:nvSpPr>
          <p:cNvPr id="399" name="Google Shape;399;p13"/>
          <p:cNvSpPr txBox="1"/>
          <p:nvPr/>
        </p:nvSpPr>
        <p:spPr>
          <a:xfrm>
            <a:off x="5959427" y="5330097"/>
            <a:ext cx="26973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Model</a:t>
            </a:r>
            <a:endParaRPr b="1" sz="1917">
              <a:solidFill>
                <a:srgbClr val="F7F8F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7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b="1" i="0" lang="en-US" sz="1917" u="none" cap="none" strike="noStrike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XGBoost</a:t>
            </a:r>
            <a:endParaRPr sz="2065"/>
          </a:p>
        </p:txBody>
      </p:sp>
      <p:sp>
        <p:nvSpPr>
          <p:cNvPr id="400" name="Google Shape;400;p13"/>
          <p:cNvSpPr txBox="1"/>
          <p:nvPr/>
        </p:nvSpPr>
        <p:spPr>
          <a:xfrm>
            <a:off x="8724175" y="5500350"/>
            <a:ext cx="2649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400" lIns="134850" spcFirstLastPara="1" rIns="134850" wrap="square" tIns="67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최종 예측 모델</a:t>
            </a:r>
            <a:endParaRPr sz="20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핵심 모델 설계: XGBoost Regressor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14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4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822960" y="1572768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900"/>
              <a:buFont typeface="Noto Sans"/>
              <a:buNone/>
            </a:pPr>
            <a:r>
              <a:rPr b="1" i="0" lang="en-US" sz="19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광고가는 유동인구·상권·중심성·토지 가치가 비선형적으로 결합된 결과일 가능성이 큽니다.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868680" y="2331720"/>
            <a:ext cx="4800600" cy="960120"/>
          </a:xfrm>
          <a:prstGeom prst="roundRect">
            <a:avLst>
              <a:gd fmla="val 1142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1097280" y="272491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표 형태 데이터에 강함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3108960" y="2754584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정류장별 피처 테이블 구조와 적합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217920" y="2331720"/>
            <a:ext cx="4800600" cy="960120"/>
          </a:xfrm>
          <a:prstGeom prst="roundRect">
            <a:avLst>
              <a:gd fmla="val 1142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446520" y="272491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비선형 관계 반영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8458200" y="2657856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거리·밀도·가격 사이의 </a:t>
            </a:r>
            <a:endParaRPr b="0" i="0" sz="1250" u="none" cap="none" strike="noStrike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비례 관계가 단순하지 않음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868680" y="3657600"/>
            <a:ext cx="4800600" cy="960120"/>
          </a:xfrm>
          <a:prstGeom prst="roundRect">
            <a:avLst>
              <a:gd fmla="val 1142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1097280" y="405079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상호작용 포착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3108960" y="3983736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상권 밀도 × 중심지 접근성 같은 조합 효과 확인 가능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6217920" y="3657600"/>
            <a:ext cx="4800600" cy="960120"/>
          </a:xfrm>
          <a:prstGeom prst="roundRect">
            <a:avLst>
              <a:gd fmla="val 1142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6446520" y="405079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해석 가능성 연결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8458200" y="3983736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어떤 도시 특성이 광고비를 높이거나 낮추는지 설명 가능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960120" y="550468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검증 방향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2057400" y="546811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선형 기준선 대비 성능 향상 여부를 확인하고, 교차검증·하이퍼파라미터 조정으로 과적합을 관리합니다.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95050" y="6279338"/>
            <a:ext cx="107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* </a:t>
            </a:r>
            <a:r>
              <a:rPr b="1" lang="en-US" sz="1000">
                <a:solidFill>
                  <a:schemeClr val="lt1"/>
                </a:solidFill>
              </a:rPr>
              <a:t>XGBoost : </a:t>
            </a:r>
            <a:r>
              <a:rPr b="1" lang="en-US" sz="1100">
                <a:solidFill>
                  <a:schemeClr val="lt1"/>
                </a:solidFill>
              </a:rPr>
              <a:t>여러 개의 의사결정나무(Decision Tree)를 순차적으로 개선하면서 예측하는 모델. 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lang="en-US" sz="2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모델 검증 전략 : 지역 내 예측과 지역 간 일반화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15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5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77240" y="1700784"/>
            <a:ext cx="5074920" cy="3017520"/>
          </a:xfrm>
          <a:prstGeom prst="roundRect">
            <a:avLst>
              <a:gd fmla="val 3636" name="adj"/>
            </a:avLst>
          </a:prstGeom>
          <a:solidFill>
            <a:srgbClr val="191A1B"/>
          </a:solidFill>
          <a:ln cap="flat" cmpd="sng" w="12700">
            <a:solidFill>
              <a:srgbClr val="7170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1051560" y="20574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무작위 K-Fold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051560" y="2697480"/>
            <a:ext cx="4160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전체 데이터에서 일반적인 예측 성능 확인</a:t>
            </a:r>
            <a:b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학습/검증 분할을 여러 번 반복</a:t>
            </a:r>
            <a:b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모델 간 성능 비교 기준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6355080" y="1700784"/>
            <a:ext cx="5074920" cy="3017520"/>
          </a:xfrm>
          <a:prstGeom prst="roundRect">
            <a:avLst>
              <a:gd fmla="val 3636" name="adj"/>
            </a:avLst>
          </a:prstGeom>
          <a:solidFill>
            <a:srgbClr val="191A1B"/>
          </a:solidFill>
          <a:ln cap="flat" cmpd="sng" w="12700">
            <a:solidFill>
              <a:srgbClr val="10B98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6629400" y="2057400"/>
            <a:ext cx="4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자치구 기준 Group K</a:t>
            </a:r>
            <a:r>
              <a:rPr b="1" lang="en-US" sz="21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-</a:t>
            </a:r>
            <a:r>
              <a:rPr b="1" i="0" lang="en-US" sz="21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Fold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6629400" y="2697480"/>
            <a:ext cx="41605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특정 자치구를 학습에서 제외한 뒤 예측</a:t>
            </a:r>
            <a:b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처음 보는 지역에 대한 일반화 가능성 확인</a:t>
            </a:r>
            <a:b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0" i="0" lang="en-US" sz="15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• 외곽·데이터 부족 지역의 신뢰도 점검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1463040" y="5349240"/>
            <a:ext cx="1051560" cy="384048"/>
          </a:xfrm>
          <a:prstGeom prst="roundRect">
            <a:avLst>
              <a:gd fmla="val 14286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1536192" y="5394960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3657600" y="5349240"/>
            <a:ext cx="105156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3730752" y="5394960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852160" y="5349240"/>
            <a:ext cx="1051560" cy="384048"/>
          </a:xfrm>
          <a:prstGeom prst="roundRect">
            <a:avLst>
              <a:gd fmla="val 14286" name="adj"/>
            </a:avLst>
          </a:prstGeom>
          <a:solidFill>
            <a:srgbClr val="7170FF">
              <a:alpha val="14901"/>
            </a:srgbClr>
          </a:solidFill>
          <a:ln cap="flat" cmpd="sng" w="12700">
            <a:solidFill>
              <a:srgbClr val="7170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5925312" y="5394960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MAPE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8046720" y="5349240"/>
            <a:ext cx="1051560" cy="384048"/>
          </a:xfrm>
          <a:prstGeom prst="roundRect">
            <a:avLst>
              <a:gd fmla="val 14286" name="adj"/>
            </a:avLst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8119872" y="5394960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R²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868680" y="59893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현재 데이터를 잘 설명하는 것을 넘어, 처음 보는 지역에서도 합리적 가격을 예측하는 것이 목표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6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lang="en-US" sz="28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가격 형성 요인 분석 : 왜 그 위치는 비싼가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6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6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777240" y="1645920"/>
            <a:ext cx="4846320" cy="4206240"/>
          </a:xfrm>
          <a:prstGeom prst="roundRect">
            <a:avLst>
              <a:gd fmla="val 260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1051560" y="19933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전체 </a:t>
            </a: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패턴</a:t>
            </a: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분</a:t>
            </a: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1051548" y="2651750"/>
            <a:ext cx="45720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서울 전역에서 광고비에 영향을 미치는 주요 요인 파악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도시 특성이 가격을 높이거나 낮추는 영향 분석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도시 구조와 광고비의 전반적 관계 해석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500"/>
              <a:buFont typeface="Noto Sans"/>
              <a:buNone/>
            </a:pPr>
            <a:r>
              <a:t/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6568440" y="1645920"/>
            <a:ext cx="4846200" cy="4206300"/>
          </a:xfrm>
          <a:prstGeom prst="roundRect">
            <a:avLst>
              <a:gd fmla="val 260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6766560" y="19933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개별 </a:t>
            </a: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정류장</a:t>
            </a: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20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분</a:t>
            </a: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766560" y="2651760"/>
            <a:ext cx="38404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특정 정류장의 예상 광고비 산정 근거 제시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어떤 요인이 가격에 가장 큰 영향을 주었는지 확인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예측 결과를 설명 가능한 입지 분석 정보로 제공</a:t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500"/>
              <a:buFont typeface="Noto Sans"/>
              <a:buNone/>
            </a:pPr>
            <a:r>
              <a:t/>
            </a:r>
            <a:endParaRPr sz="1500">
              <a:solidFill>
                <a:srgbClr val="C9CDD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914400" y="608076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lang="en-US" sz="2000">
                <a:solidFill>
                  <a:schemeClr val="lt1"/>
                </a:solidFill>
              </a:rPr>
              <a:t>결과 예측뿐 아니라, 어떤 도시 특성이 가격 형성에 영향을 미쳤는지 함께 분석합니다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최종 산출물 구상: 지도 기반 예측·해석 화면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7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7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778340" y="1600225"/>
            <a:ext cx="5715000" cy="4480500"/>
          </a:xfrm>
          <a:prstGeom prst="roundRect">
            <a:avLst>
              <a:gd fmla="val 2449" name="adj"/>
            </a:avLst>
          </a:prstGeom>
          <a:solidFill>
            <a:srgbClr val="0F1011"/>
          </a:solidFill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1051560" y="18928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지도 기반 시각화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903720" y="1600200"/>
            <a:ext cx="4526280" cy="4480560"/>
          </a:xfrm>
          <a:prstGeom prst="roundRect">
            <a:avLst>
              <a:gd fmla="val 2449" name="adj"/>
            </a:avLst>
          </a:prstGeom>
          <a:solidFill>
            <a:srgbClr val="191A1B"/>
          </a:solidFill>
          <a:ln cap="flat" cmpd="sng" w="12700">
            <a:solidFill>
              <a:srgbClr val="7170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7269480" y="196596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예상 광고가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7269480" y="2331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약 </a:t>
            </a:r>
            <a:r>
              <a:rPr b="1" lang="en-US" sz="3200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r>
              <a:rPr b="1" i="0" lang="en-US" sz="32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0만원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269480" y="29718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오차 범위와 신뢰도 표시 예정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7269480" y="3611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주요 결정요인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7388352" y="4041648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유동인구 많음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9144000" y="4078224"/>
            <a:ext cx="868680" cy="73152"/>
          </a:xfrm>
          <a:prstGeom prst="rect">
            <a:avLst/>
          </a:prstGeom>
          <a:solidFill>
            <a:srgbClr val="7170FF"/>
          </a:solidFill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7388352" y="437083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상권 밀집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9144000" y="4407408"/>
            <a:ext cx="73152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7388352" y="4700016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공시지가 높음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9144000" y="4736592"/>
            <a:ext cx="594360" cy="73152"/>
          </a:xfrm>
          <a:prstGeom prst="rect">
            <a:avLst/>
          </a:prstGeom>
          <a:solidFill>
            <a:srgbClr val="7170FF"/>
          </a:solidFill>
          <a:ln cap="flat" cmpd="sng" w="12700">
            <a:solidFill>
              <a:srgbClr val="71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7388352" y="50292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지하철 접근성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144000" y="5065776"/>
            <a:ext cx="45720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17"/>
          <p:cNvPicPr preferRelativeResize="0"/>
          <p:nvPr/>
        </p:nvPicPr>
        <p:blipFill rotWithShape="1">
          <a:blip r:embed="rId3">
            <a:alphaModFix/>
          </a:blip>
          <a:srcRect b="0" l="0" r="0" t="21377"/>
          <a:stretch/>
        </p:blipFill>
        <p:spPr>
          <a:xfrm>
            <a:off x="1051550" y="2688024"/>
            <a:ext cx="3831100" cy="3005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17"/>
          <p:cNvGrpSpPr/>
          <p:nvPr/>
        </p:nvGrpSpPr>
        <p:grpSpPr>
          <a:xfrm>
            <a:off x="1051552" y="2343346"/>
            <a:ext cx="685800" cy="255900"/>
            <a:chOff x="4645152" y="4215384"/>
            <a:chExt cx="685800" cy="255900"/>
          </a:xfrm>
        </p:grpSpPr>
        <p:sp>
          <p:nvSpPr>
            <p:cNvPr id="506" name="Google Shape;506;p17"/>
            <p:cNvSpPr/>
            <p:nvPr/>
          </p:nvSpPr>
          <p:spPr>
            <a:xfrm>
              <a:off x="4645152" y="4215384"/>
              <a:ext cx="685800" cy="255900"/>
            </a:xfrm>
            <a:prstGeom prst="roundRect">
              <a:avLst>
                <a:gd fmla="val 21429" name="adj"/>
              </a:avLst>
            </a:prstGeom>
            <a:solidFill>
              <a:srgbClr val="7170FF">
                <a:alpha val="14900"/>
              </a:srgbClr>
            </a:solidFill>
            <a:ln cap="flat" cmpd="sng" w="12700">
              <a:solidFill>
                <a:srgbClr val="7170FF">
                  <a:alpha val="651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4718304" y="4261104"/>
              <a:ext cx="5394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7F8F8"/>
                </a:buClr>
                <a:buSzPts val="1000"/>
                <a:buFont typeface="Noto Sans"/>
                <a:buNone/>
              </a:pPr>
              <a:r>
                <a:rPr b="1" lang="en-US" sz="1000">
                  <a:solidFill>
                    <a:srgbClr val="F7F8F8"/>
                  </a:solidFill>
                  <a:latin typeface="Noto Sans"/>
                  <a:ea typeface="Noto Sans"/>
                  <a:cs typeface="Noto Sans"/>
                  <a:sym typeface="Noto Sans"/>
                </a:rPr>
                <a:t>예시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8138160" y="-1188720"/>
            <a:ext cx="5029200" cy="5029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7170FF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8"/>
          <p:cNvSpPr/>
          <p:nvPr/>
        </p:nvSpPr>
        <p:spPr>
          <a:xfrm rot="2100000">
            <a:off x="-1828800" y="438912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E6AD2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658368" y="3840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850"/>
              <a:buFont typeface="Noto Sans"/>
              <a:buNone/>
            </a:pPr>
            <a:r>
              <a:rPr b="1" lang="en-US" sz="850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Bus Stop Ad Valuation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640080" y="676656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최종 발표까지의 작업 계획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18"/>
          <p:cNvCxnSpPr/>
          <p:nvPr/>
        </p:nvCxnSpPr>
        <p:spPr>
          <a:xfrm>
            <a:off x="640080" y="1307592"/>
            <a:ext cx="10927080" cy="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18"/>
          <p:cNvSpPr/>
          <p:nvPr/>
        </p:nvSpPr>
        <p:spPr>
          <a:xfrm>
            <a:off x="8595360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Data-Driven Bus Stop Ad Valuation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960120" y="165506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18"/>
          <p:cNvCxnSpPr/>
          <p:nvPr/>
        </p:nvCxnSpPr>
        <p:spPr>
          <a:xfrm>
            <a:off x="1124712" y="1929384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18"/>
          <p:cNvSpPr/>
          <p:nvPr/>
        </p:nvSpPr>
        <p:spPr>
          <a:xfrm>
            <a:off x="1508760" y="1618488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0F1011"/>
          </a:solidFill>
          <a:ln cap="flat" cmpd="sng" w="12700">
            <a:solidFill>
              <a:srgbClr val="2A2D34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1783080" y="17282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가격-좌표 매칭 검증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4160520" y="1728216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정류장 광고가와 좌표 연결 품질 확인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960120" y="236829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8"/>
          <p:cNvCxnSpPr/>
          <p:nvPr/>
        </p:nvCxnSpPr>
        <p:spPr>
          <a:xfrm>
            <a:off x="1124712" y="2642616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8"/>
          <p:cNvSpPr/>
          <p:nvPr/>
        </p:nvSpPr>
        <p:spPr>
          <a:xfrm>
            <a:off x="1508760" y="2331720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0F1011"/>
          </a:solidFill>
          <a:ln cap="flat" cmpd="sng" w="12700">
            <a:solidFill>
              <a:srgbClr val="2A2D34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1783080" y="244144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핵심 피처 정제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160520" y="2441448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교통·토지·상권·중심성 변수 구축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960120" y="3081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18"/>
          <p:cNvCxnSpPr/>
          <p:nvPr/>
        </p:nvCxnSpPr>
        <p:spPr>
          <a:xfrm>
            <a:off x="1124712" y="3355848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8"/>
          <p:cNvSpPr/>
          <p:nvPr/>
        </p:nvSpPr>
        <p:spPr>
          <a:xfrm>
            <a:off x="1508760" y="3044952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0F1011"/>
          </a:solidFill>
          <a:ln cap="flat" cmpd="sng" w="12700">
            <a:solidFill>
              <a:srgbClr val="2A2D34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1783080" y="31546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모델 비교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4160520" y="3154680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Linear / RF / XGBoost 성능 비교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960120" y="37947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18"/>
          <p:cNvCxnSpPr/>
          <p:nvPr/>
        </p:nvCxnSpPr>
        <p:spPr>
          <a:xfrm>
            <a:off x="1124712" y="406908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18"/>
          <p:cNvSpPr/>
          <p:nvPr/>
        </p:nvSpPr>
        <p:spPr>
          <a:xfrm>
            <a:off x="1508760" y="3758184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0F1011"/>
          </a:solidFill>
          <a:ln cap="flat" cmpd="sng" w="12700">
            <a:solidFill>
              <a:srgbClr val="2A2D34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1783080" y="386791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공간 검증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4160520" y="3867912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K-Fold와 자치구 기반 검증 병행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960120" y="45079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18"/>
          <p:cNvCxnSpPr/>
          <p:nvPr/>
        </p:nvCxnSpPr>
        <p:spPr>
          <a:xfrm>
            <a:off x="1124712" y="4782312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2A2D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8"/>
          <p:cNvSpPr/>
          <p:nvPr/>
        </p:nvSpPr>
        <p:spPr>
          <a:xfrm>
            <a:off x="1508760" y="4471416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0F1011"/>
          </a:solidFill>
          <a:ln cap="flat" cmpd="sng" w="12700">
            <a:solidFill>
              <a:srgbClr val="2A2D34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1783080" y="458114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SHAP 해석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4160520" y="4581144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전체 경향과 개별 정류장 설명 정리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960120" y="522122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8"/>
          <p:cNvCxnSpPr/>
          <p:nvPr/>
        </p:nvCxnSpPr>
        <p:spPr>
          <a:xfrm>
            <a:off x="1124712" y="5495544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08090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8"/>
          <p:cNvSpPr/>
          <p:nvPr/>
        </p:nvSpPr>
        <p:spPr>
          <a:xfrm>
            <a:off x="1508760" y="5184648"/>
            <a:ext cx="9509760" cy="457200"/>
          </a:xfrm>
          <a:prstGeom prst="roundRect">
            <a:avLst>
              <a:gd fmla="val 24000" name="adj"/>
            </a:avLst>
          </a:prstGeom>
          <a:solidFill>
            <a:srgbClr val="191A1B"/>
          </a:solidFill>
          <a:ln cap="flat" cmpd="sng" w="12700">
            <a:solidFill>
              <a:srgbClr val="717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1783080" y="529437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지도 시각화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4160520" y="5294376"/>
            <a:ext cx="5852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DD2"/>
              </a:buClr>
              <a:buSzPts val="1220"/>
              <a:buFont typeface="Noto Sans"/>
              <a:buNone/>
            </a:pPr>
            <a:r>
              <a:rPr b="0" i="0" lang="en-US" sz="1220" u="none" cap="none" strike="noStrike">
                <a:solidFill>
                  <a:srgbClr val="C9CDD2"/>
                </a:solidFill>
                <a:latin typeface="Noto Sans"/>
                <a:ea typeface="Noto Sans"/>
                <a:cs typeface="Noto Sans"/>
                <a:sym typeface="Noto Sans"/>
              </a:rPr>
              <a:t>광고가 분포와 예측 근거를 발표용으로 정리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914400" y="606247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0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7170FF"/>
                </a:solidFill>
                <a:latin typeface="Noto Sans"/>
                <a:ea typeface="Noto Sans"/>
                <a:cs typeface="Noto Sans"/>
                <a:sym typeface="Noto Sans"/>
              </a:rPr>
              <a:t>최종 목표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1828800" y="6016752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8F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7F8F8"/>
                </a:solidFill>
                <a:latin typeface="Noto Sans"/>
                <a:ea typeface="Noto Sans"/>
                <a:cs typeface="Noto Sans"/>
                <a:sym typeface="Noto Sans"/>
              </a:rPr>
              <a:t>버스정류장 광고가를 통해 서울의 상업적 입지 가치가 어떤 도시 구조에 의해 형성되는지 설명한다.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8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8A8F98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A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9"/>
          <p:cNvSpPr txBox="1"/>
          <p:nvPr/>
        </p:nvSpPr>
        <p:spPr>
          <a:xfrm>
            <a:off x="4564799" y="3121200"/>
            <a:ext cx="306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7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